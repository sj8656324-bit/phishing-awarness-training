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2" d="100"/>
          <a:sy n="42" d="100"/>
        </p:scale>
        <p:origin x="1580" y="4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120640" cy="2987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D2D2"/>
                </a:solidFill>
                <a:latin typeface="Aptos"/>
              </a:defRPr>
            </a:pPr>
            <a:r>
              <a:t>CYBERSECURITY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7FA"/>
                </a:solidFill>
                <a:latin typeface="Aptos"/>
              </a:defRPr>
            </a:pPr>
            <a:r>
              <a:t>PHISHING</a:t>
            </a:r>
            <a:br/>
            <a:r>
              <a:t>AWARENESS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A5B1C5"/>
                </a:solidFill>
                <a:latin typeface="Aptos"/>
              </a:defRPr>
            </a:pPr>
            <a:r>
              <a:t>Recognize • Verify • Protect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51960"/>
            <a:ext cx="5212080" cy="118872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44165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6EFF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73752"/>
            <a:ext cx="4754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rPr dirty="0"/>
              <a:t>Name: </a:t>
            </a:r>
            <a:r>
              <a:rPr lang="en-IN" dirty="0"/>
              <a:t> Sakshi  Jadhav</a:t>
            </a:r>
            <a:br>
              <a:rPr dirty="0"/>
            </a:br>
            <a:r>
              <a:rPr dirty="0"/>
              <a:t>Class / Department: </a:t>
            </a:r>
            <a:r>
              <a:rPr lang="en-IN" dirty="0"/>
              <a:t> Ty(ENTC)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5B1C5"/>
                </a:solidFill>
                <a:latin typeface="Aptos"/>
              </a:defRPr>
            </a:pPr>
            <a:r>
              <a:t>PHISHING AWARENESS  •  CYBERSECURITY PROJECT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D2D2"/>
                </a:solidFill>
                <a:latin typeface="Aptos"/>
              </a:defRPr>
            </a:pPr>
            <a:r>
              <a:t>01 •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What is phishing?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1C5"/>
                </a:solidFill>
                <a:latin typeface="Aptos"/>
              </a:defRPr>
            </a:pPr>
            <a:r>
              <a:t>A social-engineering attack that uses deception to make a person reveal information or take an unsafe action.</a:t>
            </a:r>
          </a:p>
        </p:txBody>
      </p:sp>
      <p:pic>
        <p:nvPicPr>
          <p:cNvPr id="5" name="Picture 4" descr="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83080"/>
            <a:ext cx="4846320" cy="28270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965960"/>
            <a:ext cx="5303520" cy="11430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305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606E"/>
                </a:solidFill>
                <a:latin typeface="Aptos"/>
              </a:defRPr>
            </a:pPr>
            <a:r>
              <a:t>THE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87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Steal credentials, financial information, personal data, or gain unauthorized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5303520" cy="11430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5021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6C44B"/>
                </a:solidFill>
                <a:latin typeface="Aptos"/>
              </a:defRPr>
            </a:pPr>
            <a:r>
              <a:t>THE TRICK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593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Impersonate a trusted brand, person, service, or authority.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09160"/>
            <a:ext cx="5303520" cy="11430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8737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1D2D2"/>
                </a:solidFill>
                <a:latin typeface="Aptos"/>
              </a:defRPr>
            </a:pPr>
            <a:r>
              <a:t>THE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3309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Unexpected urgency + request for action + suspicious link or attachment.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5B1C5"/>
                </a:solidFill>
                <a:latin typeface="Aptos"/>
              </a:defRPr>
            </a:pPr>
            <a:r>
              <a:t>PHISHING AWARENESS  •  CYBERSECURITY PROJECT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D2D2"/>
                </a:solidFill>
                <a:latin typeface="Aptos"/>
              </a:defRPr>
            </a:pPr>
            <a:r>
              <a:t>02 • ATTACK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Know the common 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1C5"/>
                </a:solidFill>
                <a:latin typeface="Aptos"/>
              </a:defRPr>
            </a:pPr>
            <a:r>
              <a:t>Different channels, same objective: manipulate the target.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429000" cy="16002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606E"/>
                </a:solidFill>
                <a:latin typeface="Aptos"/>
              </a:defRPr>
            </a:pPr>
            <a:r>
              <a:t>EMAIL PHISHING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Fraudulent email</a:t>
            </a:r>
            <a:br/>
            <a:br/>
            <a:r>
              <a:t>Channel: E-mail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74519"/>
            <a:ext cx="3429000" cy="16002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203911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6EFF"/>
                </a:solidFill>
                <a:latin typeface="Aptos"/>
              </a:defRPr>
            </a:pPr>
            <a:r>
              <a:t>SPEAR PHISHING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496312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Targeted at a specific person</a:t>
            </a:r>
            <a:br/>
            <a:br/>
            <a:r>
              <a:t>Channel: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429000" cy="16002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203911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6C44B"/>
                </a:solidFill>
                <a:latin typeface="Aptos"/>
              </a:defRPr>
            </a:pPr>
            <a:r>
              <a:t>SMISHING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96312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Malicious SMS/text</a:t>
            </a:r>
            <a:br/>
            <a:br/>
            <a:r>
              <a:t>Channel: SMS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40479"/>
            <a:ext cx="3429000" cy="16002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05071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1D2D2"/>
                </a:solidFill>
                <a:latin typeface="Aptos"/>
              </a:defRPr>
            </a:pPr>
            <a:r>
              <a:t>VISHING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62271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Fraudulent phone call</a:t>
            </a:r>
            <a:br/>
            <a:br/>
            <a:r>
              <a:t>Channel: Voice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840479"/>
            <a:ext cx="3429000" cy="16002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4005071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9CD87"/>
                </a:solidFill>
                <a:latin typeface="Aptos"/>
              </a:defRPr>
            </a:pPr>
            <a:r>
              <a:t>CLONE PHISHING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462271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Imitates a legitimate message</a:t>
            </a:r>
            <a:br/>
            <a:br/>
            <a:r>
              <a:t>Channel: Copy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840479"/>
            <a:ext cx="3429000" cy="16002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4005071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606E"/>
                </a:solidFill>
                <a:latin typeface="Aptos"/>
              </a:defRPr>
            </a:pPr>
            <a:r>
              <a:t>WEBSITE PHISHING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462271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Fake login or payment page</a:t>
            </a:r>
            <a:br/>
            <a:br/>
            <a:r>
              <a:t>Channel: Web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5B1C5"/>
                </a:solidFill>
                <a:latin typeface="Aptos"/>
              </a:defRPr>
            </a:pPr>
            <a:r>
              <a:t>PHISHING AWARENESS  •  CYBERSECURITY PROJECT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D2D2"/>
                </a:solidFill>
                <a:latin typeface="Aptos"/>
              </a:defRPr>
            </a:pPr>
            <a:r>
              <a:t>03 • EMAIL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How to spot a phishing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1C5"/>
                </a:solidFill>
                <a:latin typeface="Aptos"/>
              </a:defRPr>
            </a:pPr>
            <a:r>
              <a:t>Pause before clicking. Inspect the message instead of reacting to the pressure.</a:t>
            </a:r>
          </a:p>
        </p:txBody>
      </p:sp>
      <p:pic>
        <p:nvPicPr>
          <p:cNvPr id="5" name="Picture 4" descr="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83080"/>
            <a:ext cx="5212080" cy="30403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828800"/>
            <a:ext cx="5257800" cy="86868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606E"/>
                </a:solidFill>
                <a:latin typeface="Aptos"/>
              </a:defRPr>
            </a:pPr>
            <a:r>
              <a:t>01  SENDER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4800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Check the complete address and unexpected domain.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80360"/>
            <a:ext cx="5257800" cy="86868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4495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6C44B"/>
                </a:solidFill>
                <a:latin typeface="Aptos"/>
              </a:defRPr>
            </a:pPr>
            <a:r>
              <a:t>02 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02152"/>
            <a:ext cx="4800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Urgency, fear, or threats are common manipulation signals.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31920"/>
            <a:ext cx="5257800" cy="86868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1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6EFF"/>
                </a:solidFill>
                <a:latin typeface="Aptos"/>
              </a:defRPr>
            </a:pPr>
            <a:r>
              <a:t>03 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53712"/>
            <a:ext cx="4800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Be cautious with password, OTP, payment, or personal-data requests.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983479"/>
            <a:ext cx="5257800" cy="86868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148071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1D2D2"/>
                </a:solidFill>
                <a:latin typeface="Aptos"/>
              </a:defRPr>
            </a:pPr>
            <a:r>
              <a:t>04  LINK /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05271"/>
            <a:ext cx="4800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Hover/check the destination and avoid unexpected attachments.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5B1C5"/>
                </a:solidFill>
                <a:latin typeface="Aptos"/>
              </a:defRPr>
            </a:pPr>
            <a:r>
              <a:t>PHISHING AWARENESS  •  CYBERSECURITY PROJECT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D2D2"/>
                </a:solidFill>
                <a:latin typeface="Aptos"/>
              </a:defRPr>
            </a:pPr>
            <a:r>
              <a:t>04 • WEBSITE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A padlock is not proof of legitimacy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1C5"/>
                </a:solidFill>
                <a:latin typeface="Aptos"/>
              </a:defRPr>
            </a:pPr>
            <a:r>
              <a:t>HTTPS encrypts the connection; it does not certify that the website itself is trustworthy.</a:t>
            </a:r>
          </a:p>
        </p:txBody>
      </p:sp>
      <p:pic>
        <p:nvPicPr>
          <p:cNvPr id="5" name="Picture 4" descr="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120640" cy="2987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874519"/>
            <a:ext cx="5257800" cy="105156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1D2D2"/>
                </a:solidFill>
                <a:latin typeface="Aptos"/>
              </a:defRPr>
            </a:pPr>
            <a:r>
              <a:t>CHECK THE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96312"/>
            <a:ext cx="48006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Look for misspellings, unexpected subdomains, or unfamiliar domains.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54680"/>
            <a:ext cx="5257800" cy="105156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31927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9CD87"/>
                </a:solidFill>
                <a:latin typeface="Aptos"/>
              </a:defRPr>
            </a:pPr>
            <a:r>
              <a:t>VERIFY THE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76472"/>
            <a:ext cx="48006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Open the official app/site yourself instead of following an unexpected link.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434840"/>
            <a:ext cx="5257800" cy="105156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599431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606E"/>
                </a:solidFill>
                <a:latin typeface="Aptos"/>
              </a:defRPr>
            </a:pPr>
            <a:r>
              <a:t>CHECK THE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56631"/>
            <a:ext cx="48006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Stop if the page unexpectedly asks for sensitive information.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5B1C5"/>
                </a:solidFill>
                <a:latin typeface="Aptos"/>
              </a:defRPr>
            </a:pPr>
            <a:r>
              <a:t>PHISHING AWARENESS  •  CYBERSECURITY PROJECT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D2D2"/>
                </a:solidFill>
                <a:latin typeface="Aptos"/>
              </a:defRPr>
            </a:pPr>
            <a:r>
              <a:t>05 • HUMAN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Social engineering: attacking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1C5"/>
                </a:solidFill>
                <a:latin typeface="Aptos"/>
              </a:defRPr>
            </a:pPr>
            <a:r>
              <a:t>Attackers often exploit emotions and habits rather than technical vulnerabilities.</a:t>
            </a:r>
          </a:p>
        </p:txBody>
      </p:sp>
      <p:pic>
        <p:nvPicPr>
          <p:cNvPr id="5" name="Picture 4" descr="so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303520" cy="3093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828800"/>
            <a:ext cx="5166360" cy="96012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606E"/>
                </a:solidFill>
                <a:latin typeface="Aptos"/>
              </a:defRPr>
            </a:pPr>
            <a:r>
              <a:t>FEAR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4709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“Your account has been compromised.”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5166360" cy="96012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136392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6C44B"/>
                </a:solidFill>
                <a:latin typeface="Aptos"/>
              </a:defRPr>
            </a:pPr>
            <a:r>
              <a:t>URGENCY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93592"/>
            <a:ext cx="4709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“You have 10 minutes to respond.”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14800"/>
            <a:ext cx="5166360" cy="96012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279392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6EFF"/>
                </a:solidFill>
                <a:latin typeface="Aptos"/>
              </a:defRPr>
            </a:pPr>
            <a:r>
              <a:t>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36592"/>
            <a:ext cx="4709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Pretending to be a bank, manager, teacher, or official.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257800"/>
            <a:ext cx="5166360" cy="73152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422392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1D2D2"/>
                </a:solidFill>
                <a:latin typeface="Aptos"/>
              </a:defRPr>
            </a:pPr>
            <a:r>
              <a:t>REWARD / CURIOSITY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79592"/>
            <a:ext cx="47091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Prize, refund, exclusive offer, or tempting content.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5B1C5"/>
                </a:solidFill>
                <a:latin typeface="Aptos"/>
              </a:defRPr>
            </a:pPr>
            <a:r>
              <a:t>PHISHING AWARENESS  •  CYBERSECURITY PROJECT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D2D2"/>
                </a:solidFill>
                <a:latin typeface="Aptos"/>
              </a:defRPr>
            </a:pPr>
            <a:r>
              <a:t>06 •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Best practices that reduce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1C5"/>
                </a:solidFill>
                <a:latin typeface="Aptos"/>
              </a:defRPr>
            </a:pPr>
            <a:r>
              <a:t>Good security habits turn a suspicious message into a safe decision.</a:t>
            </a:r>
          </a:p>
        </p:txBody>
      </p:sp>
      <p:pic>
        <p:nvPicPr>
          <p:cNvPr id="5" name="Picture 4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17320"/>
            <a:ext cx="4846320" cy="28270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783080"/>
            <a:ext cx="5394960" cy="713232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1D2D2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4937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Use an independent official channel.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97480"/>
            <a:ext cx="5394960" cy="713232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8620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9CD87"/>
                </a:solidFill>
                <a:latin typeface="Aptos"/>
              </a:defRPr>
            </a:pPr>
            <a:r>
              <a:t>MFA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9272"/>
            <a:ext cx="4937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Enable multi-factor authentication.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11880"/>
            <a:ext cx="5394960" cy="713232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6EFF"/>
                </a:solidFill>
                <a:latin typeface="Aptos"/>
              </a:defRPr>
            </a:pPr>
            <a:r>
              <a:t>PASSWORDS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33672"/>
            <a:ext cx="4937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Use strong, unique passwords.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526280"/>
            <a:ext cx="5394960" cy="713232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6C44B"/>
                </a:solidFill>
                <a:latin typeface="Aptos"/>
              </a:defRPr>
            </a:pPr>
            <a:r>
              <a:t>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48072"/>
            <a:ext cx="4937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Patch your OS, browser, and apps.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440680"/>
            <a:ext cx="5394960" cy="713232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6052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606E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062472"/>
            <a:ext cx="4937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Report suspicious messages to the appropriate service.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5B1C5"/>
                </a:solidFill>
                <a:latin typeface="Aptos"/>
              </a:defRPr>
            </a:pPr>
            <a:r>
              <a:t>PHISHING AWARENESS  •  CYBERSECURITY PROJECT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D2D2"/>
                </a:solidFill>
                <a:latin typeface="Aptos"/>
              </a:defRPr>
            </a:pPr>
            <a:r>
              <a:t>07 •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Can you spot the red flags?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1C5"/>
                </a:solidFill>
                <a:latin typeface="Aptos"/>
              </a:defRPr>
            </a:pPr>
            <a:r>
              <a:t>Read the message first. Decide what you would do before viewing the answer.</a:t>
            </a:r>
          </a:p>
        </p:txBody>
      </p:sp>
      <p:pic>
        <p:nvPicPr>
          <p:cNvPr id="5" name="Picture 4" descr="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852160" cy="3413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874519"/>
            <a:ext cx="4572000" cy="11430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86600" y="20391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606E"/>
                </a:solidFill>
                <a:latin typeface="Aptos"/>
              </a:defRPr>
            </a:pPr>
            <a:r>
              <a:t>RED FLAG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4963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Artificial deadline: “within 2 hours.”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246120"/>
            <a:ext cx="4572000" cy="11430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34107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6C44B"/>
                </a:solidFill>
                <a:latin typeface="Aptos"/>
              </a:defRPr>
            </a:pPr>
            <a:r>
              <a:t>RED FLAG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867911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Unexpected request to verify your account.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617720"/>
            <a:ext cx="4572000" cy="11430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86600" y="47823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9CD87"/>
                </a:solidFill>
                <a:latin typeface="Aptos"/>
              </a:defRPr>
            </a:pPr>
            <a:r>
              <a:t>SAFE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52395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Do not click. Verify independently through the official bank app/site.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5B1C5"/>
                </a:solidFill>
                <a:latin typeface="Aptos"/>
              </a:defRPr>
            </a:pPr>
            <a:r>
              <a:t>PHISHING AWARENESS  •  CYBERSECURITY PROJECT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D2D2"/>
                </a:solidFill>
                <a:latin typeface="Aptos"/>
              </a:defRPr>
            </a:pPr>
            <a:r>
              <a:t>08 • 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Interactive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1C5"/>
                </a:solidFill>
                <a:latin typeface="Aptos"/>
              </a:defRPr>
            </a:pPr>
            <a:r>
              <a:t>Use this slide as a live classroom quiz before revealing the answers.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303520" cy="192024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476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6EFF"/>
                </a:solidFill>
                <a:latin typeface="Aptos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04872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An urgent message says your account will be blocked today. What should you do?</a:t>
            </a:r>
            <a:br/>
            <a:br/>
            <a:r>
              <a:t>A  Click   B  Share   C  Verify independently   D  Send OTP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303520" cy="192024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9476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1D2D2"/>
                </a:solidFill>
                <a:latin typeface="Aptos"/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04872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Does HTTPS automatically prove a website is genuine?</a:t>
            </a:r>
            <a:br/>
            <a:br/>
            <a:r>
              <a:t>A  Yes   B  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77639"/>
            <a:ext cx="5303520" cy="192024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42231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6C44B"/>
                </a:solidFill>
                <a:latin typeface="Aptos"/>
              </a:defRPr>
            </a:pPr>
            <a: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99431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Smishing is phishing delivered through:</a:t>
            </a:r>
            <a:br/>
            <a:br/>
            <a:r>
              <a:t>A  Email   B  SMS   C  Phone call   D  USB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5303520" cy="192024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142231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606E"/>
                </a:solidFill>
                <a:latin typeface="Aptos"/>
              </a:defRPr>
            </a:pPr>
            <a: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599431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What should you do with a suspicious email?</a:t>
            </a:r>
            <a:br/>
            <a:br/>
            <a:r>
              <a:t>A  Click   B  Share password   C  Verify + report/delete   D  Send OTP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5B1C5"/>
                </a:solidFill>
                <a:latin typeface="Aptos"/>
              </a:defRPr>
            </a:pPr>
            <a:r>
              <a:t>PHISHING AWARENESS  •  CYBERSECURITY PROJECT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D2D2"/>
                </a:solidFill>
                <a:latin typeface="Aptos"/>
              </a:defRPr>
            </a:pPr>
            <a:r>
              <a:t>09 • ANSWER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Quiz answers +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1C5"/>
                </a:solidFill>
                <a:latin typeface="Aptos"/>
              </a:defRPr>
            </a:pPr>
            <a:r>
              <a:t>The goal is not just the right answer—it is the habit behind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560320" cy="18288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6EFF"/>
                </a:solidFill>
                <a:latin typeface="Aptos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50592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C — Verify independently</a:t>
            </a:r>
            <a:br/>
            <a:br/>
            <a:r>
              <a:t>Don't use the message's link.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60320" cy="18288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9933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1D2D2"/>
                </a:solidFill>
                <a:latin typeface="Aptos"/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50592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B — No</a:t>
            </a:r>
            <a:br/>
            <a:br/>
            <a:r>
              <a:t>HTTPS protects the connection, not the site's intent.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2560320" cy="18288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6C44B"/>
                </a:solidFill>
                <a:latin typeface="Aptos"/>
              </a:defRPr>
            </a:pPr>
            <a: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50592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B — SMS</a:t>
            </a:r>
            <a:br/>
            <a:br/>
            <a:r>
              <a:t>Smishing = SMS phishing.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828800"/>
            <a:ext cx="2560320" cy="1828800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19933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606E"/>
                </a:solidFill>
                <a:latin typeface="Aptos"/>
              </a:defRPr>
            </a:pPr>
            <a: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450592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C — Verify + report/delete</a:t>
            </a:r>
            <a:br/>
            <a:br/>
            <a:r>
              <a:t>Avoid engaging with the suspicious message.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F7FA"/>
                </a:solidFill>
                <a:latin typeface="Aptos"/>
              </a:defRPr>
            </a:pPr>
            <a:r>
              <a:t>STOP  →  THINK  →  VERIFY  → 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4864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1C5"/>
                </a:solidFill>
                <a:latin typeface="Aptos"/>
              </a:defRPr>
            </a:pPr>
            <a:r>
              <a:t>A few seconds of verification can prevent a costly mistake.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5B1C5"/>
                </a:solidFill>
                <a:latin typeface="Aptos"/>
              </a:defRPr>
            </a:pPr>
            <a:r>
              <a:t>PHISHING AWARENESS  •  CYBERSECURITY PROJECT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D2D2"/>
                </a:solidFill>
                <a:latin typeface="Aptos"/>
              </a:defRPr>
            </a:pPr>
            <a:r>
              <a:t>10 •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Your phishing defense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5B1C5"/>
                </a:solidFill>
                <a:latin typeface="Aptos"/>
              </a:defRPr>
            </a:pPr>
            <a:r>
              <a:t>When a message creates pressure, slow 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828800"/>
            <a:ext cx="8503920" cy="475488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03120" y="1892807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7FA"/>
                </a:solidFill>
                <a:latin typeface="Aptos"/>
              </a:defRPr>
            </a:pPr>
            <a:r>
              <a:t>Unexpected message?  →  PAUSE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487168"/>
            <a:ext cx="8503920" cy="475488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0" y="2551175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7FA"/>
                </a:solidFill>
                <a:latin typeface="Aptos"/>
              </a:defRPr>
            </a:pPr>
            <a:r>
              <a:t>Unknown sender or link?  →  INSPECT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145536"/>
            <a:ext cx="8503920" cy="475488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3120" y="3209544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7FA"/>
                </a:solidFill>
                <a:latin typeface="Aptos"/>
              </a:defRPr>
            </a:pPr>
            <a:r>
              <a:t>Sensitive request?  →  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803904"/>
            <a:ext cx="8503920" cy="475488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03120" y="3867912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7FA"/>
                </a:solidFill>
                <a:latin typeface="Aptos"/>
              </a:defRPr>
            </a:pPr>
            <a:r>
              <a:t>Still suspicious?  →  DON'T CLICK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462272"/>
            <a:ext cx="8503920" cy="475488"/>
          </a:xfrm>
          <a:prstGeom prst="roundRect">
            <a:avLst/>
          </a:prstGeom>
          <a:solidFill>
            <a:srgbClr val="1C263B"/>
          </a:solidFill>
          <a:ln>
            <a:solidFill>
              <a:srgbClr val="32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03120" y="452628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7FA"/>
                </a:solidFill>
                <a:latin typeface="Aptos"/>
              </a:defRPr>
            </a:pPr>
            <a:r>
              <a:t>Confirmed phishing?  → 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1D2D2"/>
                </a:solidFill>
                <a:latin typeface="Aptos"/>
              </a:defRPr>
            </a:pPr>
            <a:r>
              <a:t>Think before you click. Protect your identity, accounts, and organization.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5B1C5"/>
                </a:solidFill>
                <a:latin typeface="Aptos"/>
              </a:defRPr>
            </a:pPr>
            <a:r>
              <a:t>PHISHING AWARENESS  •  CYBERSECURITY PROJECT  •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849</Words>
  <Application>Microsoft Office PowerPoint</Application>
  <PresentationFormat>Widescreen</PresentationFormat>
  <Paragraphs>126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2026-09-22T18:47:16Z</dcterms:modified>
  <cp:category/>
</cp:coreProperties>
</file>